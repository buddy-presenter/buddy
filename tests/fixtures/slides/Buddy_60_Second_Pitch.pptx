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acccca18c24c82" /><Relationship Type="http://schemas.openxmlformats.org/officeDocument/2006/relationships/extended-properties" Target="/docProps/app.xml" Id="R00d3d639d7574589" /><Relationship Type="http://schemas.openxmlformats.org/officeDocument/2006/relationships/officeDocument" Target="/ppt/presentation.xml" Id="Rcda7cb38729b4a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6aa36324541d6"/>
  </p:sldMasterIdLst>
  <p:notesMasterIdLst>
    <p:notesMasterId xmlns:r="http://schemas.openxmlformats.org/officeDocument/2006/relationships" r:id="R3191b583ddbe4379"/>
  </p:notesMasterIdLst>
  <p:sldIdLst>
    <p:sldId xmlns:r="http://schemas.openxmlformats.org/officeDocument/2006/relationships" id="256" r:id="R5029cff52e77486f"/>
    <p:sldId xmlns:r="http://schemas.openxmlformats.org/officeDocument/2006/relationships" id="257" r:id="Re3fdc8a21d254be1"/>
    <p:sldId xmlns:r="http://schemas.openxmlformats.org/officeDocument/2006/relationships" id="258" r:id="R311daa024dd24d58"/>
    <p:sldId xmlns:r="http://schemas.openxmlformats.org/officeDocument/2006/relationships" id="259" r:id="R3b16e357ae5e4c68"/>
    <p:sldId xmlns:r="http://schemas.openxmlformats.org/officeDocument/2006/relationships" id="260" r:id="Re2f577ed255c456f"/>
    <p:sldId xmlns:r="http://schemas.openxmlformats.org/officeDocument/2006/relationships" id="261" r:id="Ra924dc1af9dd46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showPr useTimings="1"/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257f162324461a" /><Relationship Type="http://schemas.openxmlformats.org/officeDocument/2006/relationships/slideMaster" Target="/ppt/slideMasters/slideMaster1.xml" Id="R5206aa36324541d6" /><Relationship Type="http://schemas.openxmlformats.org/officeDocument/2006/relationships/notesMaster" Target="/ppt/notesMasters/notesMaster1.xml" Id="R3191b583ddbe4379" /><Relationship Type="http://schemas.openxmlformats.org/officeDocument/2006/relationships/presProps" Target="/ppt/presProps.xml" Id="R9fdf74d4a7eb4318" /><Relationship Type="http://schemas.openxmlformats.org/officeDocument/2006/relationships/tableStyles" Target="/ppt/tableStyles.xml" Id="R834e4d4ecb334b3d" /><Relationship Type="http://schemas.openxmlformats.org/officeDocument/2006/relationships/slide" Target="/ppt/slides/slide1.xml" Id="R5029cff52e77486f" /><Relationship Type="http://schemas.openxmlformats.org/officeDocument/2006/relationships/slide" Target="/ppt/slides/slide2.xml" Id="Re3fdc8a21d254be1" /><Relationship Type="http://schemas.openxmlformats.org/officeDocument/2006/relationships/slide" Target="/ppt/slides/slide3.xml" Id="R311daa024dd24d58" /><Relationship Type="http://schemas.openxmlformats.org/officeDocument/2006/relationships/slide" Target="/ppt/slides/slide4.xml" Id="R3b16e357ae5e4c68" /><Relationship Type="http://schemas.openxmlformats.org/officeDocument/2006/relationships/slide" Target="/ppt/slides/slide5.xml" Id="Re2f577ed255c456f" /><Relationship Type="http://schemas.openxmlformats.org/officeDocument/2006/relationships/slide" Target="/ppt/slides/slide6.xml" Id="Ra924dc1af9dd46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ac8b32d0624d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7e8990c7ea4c4a" /><Relationship Type="http://schemas.openxmlformats.org/officeDocument/2006/relationships/notesMaster" Target="/ppt/notesMasters/notesMaster1.xml" Id="R6fc116bd71de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512dc544a244c1" /><Relationship Type="http://schemas.openxmlformats.org/officeDocument/2006/relationships/notesMaster" Target="/ppt/notesMasters/notesMaster1.xml" Id="R2fcaf5e548414a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97b5ae5aec45ea" /><Relationship Type="http://schemas.openxmlformats.org/officeDocument/2006/relationships/notesMaster" Target="/ppt/notesMasters/notesMaster1.xml" Id="R4e298631ceea4d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0854c4f8d44c25" /><Relationship Type="http://schemas.openxmlformats.org/officeDocument/2006/relationships/notesMaster" Target="/ppt/notesMasters/notesMaster1.xml" Id="R29766cbce61b49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5df447e07e417b" /><Relationship Type="http://schemas.openxmlformats.org/officeDocument/2006/relationships/notesMaster" Target="/ppt/notesMasters/notesMaster1.xml" Id="R97718f3e436040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b9da5ce36144da" /><Relationship Type="http://schemas.openxmlformats.org/officeDocument/2006/relationships/notesMaster" Target="/ppt/notesMasters/notesMaster1.xml" Id="R365d9ce7af5a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0:00–0:09 | 9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Today, you connect the dots between apps. What if your PC understood ‘do this’? That's the idea behind Buddy.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Buddy_Proposal.pdf, page 1, Project Idea and Goal; Expected Value. User-supplied project proposal by Hadi Elham and Hussein Moukalled, American University of Beirut.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STATUS:</a:t>
            </a:r>
          </a:p>
          <a:p xmlns:a="http://schemas.openxmlformats.org/drawingml/2006/main">
            <a:r>
              <a:t>Proposed capabilities and planned validation; no completed prototype, performance results, or traction are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VISUAL:</a:t>
            </a:r>
          </a:p>
          <a:p xmlns:a="http://schemas.openxmlformats.org/drawingml/2006/main">
            <a:r>
              <a:t>Abstract concept artwork, not a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0:09–0:23 | 14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Buddy is a local-first Windows assistant designed to understand your screen. Say, ‘Chart this table in Excel. Put it in PowerPoint.’ It would coordinate supported apps and check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Buddy_Proposal.pdf, page 1, Project Idea and Goal; Cross-App &amp; Office Actions; Implementation Direction. User-supplied project proposal by Hadi Elham and Hussein Moukalled, American University of Beirut.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STATUS:</a:t>
            </a:r>
          </a:p>
          <a:p xmlns:a="http://schemas.openxmlformats.org/drawingml/2006/main">
            <a:r>
              <a:t>Proposed capabilities and planned validation; no completed prototype, performance results, or traction are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VISUAL:</a:t>
            </a:r>
          </a:p>
          <a:p xmlns:a="http://schemas.openxmlformats.org/drawingml/2006/main">
            <a:r>
              <a:t>Concept illustration of a proposed workflow. The chart has no factual data and is only a visual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0:23–0:34 | 11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Beyond automation, Buddy could explain selected content, guide you through unfamiliar interfaces, find local files, and investigate why your PC is slowing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Buddy_Proposal.pdf, page 1, Live UI Guidance; Ask About This; System Intelligence &amp; Troubleshooting; Personal Context Search &amp; File Organization; Systemwide Writing &amp; Voice Assistance; Remote Agent Access. User-supplied project proposal by Hadi Elham and Hussein Moukalled, American University of Beirut.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STATUS:</a:t>
            </a:r>
          </a:p>
          <a:p xmlns:a="http://schemas.openxmlformats.org/drawingml/2006/main">
            <a:r>
              <a:t>Proposed capabilities and planned validation; no completed prototype, performance results, or traction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0:34–0:43 | 9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Access stays within Windows permissions. Sensitive actions need your approval. The design is local-first, with authenticated remote access planned.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Buddy_Proposal.pdf, page 1, Project Idea and Goal; Contextual Actions; Remote Agent Access; Implementation Direction. User-supplied project proposal by Hadi Elham and Hussein Moukalled, American University of Beirut.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STATUS:</a:t>
            </a:r>
          </a:p>
          <a:p xmlns:a="http://schemas.openxmlformats.org/drawingml/2006/main">
            <a:r>
              <a:t>Proposed capabilities and planned validation; no completed prototype, performance results, or traction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0:43–0:54 | 11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We'll build a prototype, then test task success, response time, and error recovery against manual completion, measuring whether Buddy actually makes work easier.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Buddy_Proposal.pdf, page 1, Implementation Direction; Testing and Validation. User-supplied project proposal by Hadi Elham and Hussein Moukalled, American University of Beirut.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STATUS:</a:t>
            </a:r>
          </a:p>
          <a:p xmlns:a="http://schemas.openxmlformats.org/drawingml/2006/main">
            <a:r>
              <a:t>Proposed capabilities and planned validation; no completed prototype, performance results, or traction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0:54–1:00 | 6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</a:t>
            </a:r>
          </a:p>
          <a:p xmlns:a="http://schemas.openxmlformats.org/drawingml/2006/main">
            <a:r>
              <a:t>We're Hadi Elham and Hussein Moukalled. Buddy: less clicking, more doing.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Buddy_Proposal.pdf, page 1, Authors and affiliation; Expected Value. User-supplied project proposal by Hadi Elham and Hussein Moukalled, American University of Beirut.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STATUS:</a:t>
            </a:r>
          </a:p>
          <a:p xmlns:a="http://schemas.openxmlformats.org/drawingml/2006/main">
            <a:r>
              <a:t>Proposed capabilities and planned validation; no completed prototype, performance results, or traction are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VISUAL:</a:t>
            </a:r>
          </a:p>
          <a:p xmlns:a="http://schemas.openxmlformats.org/drawingml/2006/main">
            <a:r>
              <a:t>Abstract concept artwork, not a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ad91a2c0749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c5f6c2a8145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79775deee41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0e12a79804b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14cbc30604b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f699547c74e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60702C-3766-4D99-87A2-D75D32D6BB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CEE687-3D93-486E-9797-E7691F5957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0A97FC-7379-45F1-BB7F-14EAD3284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8E57EE-77EE-4873-BB9B-6157BF1DC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256E72-2493-4CCD-82D8-E6ACBD24BE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46B126-90F2-4338-BBE6-253153DB3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BB493F-E85C-4E1E-856C-7429461BDA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2606E9-A3BE-4010-8572-1D7E22EE29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0FE7CE-66DD-48CA-B257-453EA39A2E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FA0C4C-C7B5-4E1C-8665-D978324508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2e171139444a7a" /><Relationship Type="http://schemas.openxmlformats.org/officeDocument/2006/relationships/slideLayout" Target="/ppt/slideLayouts/slideLayout1.xml" Id="Ra9fad8807be442c9" /><Relationship Type="http://schemas.openxmlformats.org/officeDocument/2006/relationships/slideLayout" Target="/ppt/slideLayouts/slideLayout2.xml" Id="Rc90501d8ef1840cd" /><Relationship Type="http://schemas.openxmlformats.org/officeDocument/2006/relationships/slideLayout" Target="/ppt/slideLayouts/slideLayout3.xml" Id="Rb18ee1f6f67446a2" /><Relationship Type="http://schemas.openxmlformats.org/officeDocument/2006/relationships/slideLayout" Target="/ppt/slideLayouts/slideLayout4.xml" Id="R9f6b5fd165ba4e27" /><Relationship Type="http://schemas.openxmlformats.org/officeDocument/2006/relationships/slideLayout" Target="/ppt/slideLayouts/slideLayout5.xml" Id="R5c61911663264d31" /><Relationship Type="http://schemas.openxmlformats.org/officeDocument/2006/relationships/slideLayout" Target="/ppt/slideLayouts/slideLayout6.xml" Id="R7479b9d83062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ad8807be442c9"/>
    <p:sldLayoutId xmlns:r="http://schemas.openxmlformats.org/officeDocument/2006/relationships" id="2147483650" r:id="Rc90501d8ef1840cd"/>
    <p:sldLayoutId xmlns:r="http://schemas.openxmlformats.org/officeDocument/2006/relationships" id="2147483651" r:id="Rb18ee1f6f67446a2"/>
    <p:sldLayoutId xmlns:r="http://schemas.openxmlformats.org/officeDocument/2006/relationships" id="2147483652" r:id="R9f6b5fd165ba4e27"/>
    <p:sldLayoutId xmlns:r="http://schemas.openxmlformats.org/officeDocument/2006/relationships" id="2147483653" r:id="R5c61911663264d31"/>
    <p:sldLayoutId xmlns:r="http://schemas.openxmlformats.org/officeDocument/2006/relationships" id="2147483654" r:id="R7479b9d83062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7bed2f77044e22" /><Relationship Type="http://schemas.openxmlformats.org/officeDocument/2006/relationships/image" Target="/ppt/media/image.png" Id="Ra9e3ba71c21a4ab5" /><Relationship Type="http://schemas.openxmlformats.org/officeDocument/2006/relationships/notesSlide" Target="/ppt/notesSlides/notesSlide1.xml" Id="Rca8e1efbd6574d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2f96596c04257" /><Relationship Type="http://schemas.openxmlformats.org/officeDocument/2006/relationships/image" Target="/ppt/media/image2.png" Id="Rc2bf36407c3b4da7" /><Relationship Type="http://schemas.openxmlformats.org/officeDocument/2006/relationships/notesSlide" Target="/ppt/notesSlides/notesSlide2.xml" Id="R8596506e4c6c44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56dc8faf64f69" /><Relationship Type="http://schemas.openxmlformats.org/officeDocument/2006/relationships/notesSlide" Target="/ppt/notesSlides/notesSlide3.xml" Id="R16ab21e3a6484e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80c59afb74cd1" /><Relationship Type="http://schemas.openxmlformats.org/officeDocument/2006/relationships/notesSlide" Target="/ppt/notesSlides/notesSlide4.xml" Id="R2889d5feca9243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0560fa694409d" /><Relationship Type="http://schemas.openxmlformats.org/officeDocument/2006/relationships/notesSlide" Target="/ppt/notesSlides/notesSlide5.xml" Id="Rb1014a2737e84f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d5112a82d4738" /><Relationship Type="http://schemas.openxmlformats.org/officeDocument/2006/relationships/image" Target="/ppt/media/image3.png" Id="R890f521927a544ae" /><Relationship Type="http://schemas.openxmlformats.org/officeDocument/2006/relationships/notesSlide" Target="/ppt/notesSlides/notesSlide6.xml" Id="Rb561ee7faca84b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3ba71c21a4a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uddy wordmark">
            <a:extLst xmlns:a="http://schemas.openxmlformats.org/drawingml/2006/main">
              <a:ext uri="{FF2B5EF4-FFF2-40B4-BE49-F238E27FC236}">
                <a16:creationId xmlns:a16="http://schemas.microsoft.com/office/drawing/2014/main" id="{B607FAE8-AF4B-4ECA-8D5D-F434148A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Buddy</a:t>
            </a:r>
          </a:p>
        </p:txBody>
      </p:sp>
      <p:sp>
        <p:nvSpPr>
          <p:cNvPr id="3" name="Hook line 1">
            <a:extLst xmlns:a="http://schemas.openxmlformats.org/drawingml/2006/main">
              <a:ext uri="{FF2B5EF4-FFF2-40B4-BE49-F238E27FC236}">
                <a16:creationId xmlns:a16="http://schemas.microsoft.com/office/drawing/2014/main" id="{FBDC0045-2F07-41F4-B1AB-CCDACC37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What if your PC</a:t>
            </a:r>
          </a:p>
        </p:txBody>
      </p:sp>
      <p:sp>
        <p:nvSpPr>
          <p:cNvPr id="4" name="Hook line 2">
            <a:extLst xmlns:a="http://schemas.openxmlformats.org/drawingml/2006/main">
              <a:ext uri="{FF2B5EF4-FFF2-40B4-BE49-F238E27FC236}">
                <a16:creationId xmlns:a16="http://schemas.microsoft.com/office/drawing/2014/main" id="{E8756CEC-6F9E-47AA-A7A9-BEEAC75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understood</a:t>
            </a:r>
          </a:p>
        </p:txBody>
      </p:sp>
      <p:sp>
        <p:nvSpPr>
          <p:cNvPr id="5" name="Hook line 3">
            <a:extLst xmlns:a="http://schemas.openxmlformats.org/drawingml/2006/main">
              <a:ext uri="{FF2B5EF4-FFF2-40B4-BE49-F238E27FC236}">
                <a16:creationId xmlns:a16="http://schemas.microsoft.com/office/drawing/2014/main" id="{144A777D-53B7-451C-9DB3-13FD7DC4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47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615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“do this”?</a:t>
            </a:r>
          </a:p>
        </p:txBody>
      </p:sp>
      <p:sp>
        <p:nvSpPr>
          <p:cNvPr id="6" name="Product category">
            <a:extLst xmlns:a="http://schemas.openxmlformats.org/drawingml/2006/main">
              <a:ext uri="{FF2B5EF4-FFF2-40B4-BE49-F238E27FC236}">
                <a16:creationId xmlns:a16="http://schemas.microsoft.com/office/drawing/2014/main" id="{4CE15D64-B4F2-4B06-BCA9-5549DA92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A proposed AI assistant for Windows</a:t>
            </a:r>
          </a:p>
        </p:txBody>
      </p:sp>
      <p:sp>
        <p:nvSpPr>
          <p:cNvPr id="7" name="Team">
            <a:extLst xmlns:a="http://schemas.openxmlformats.org/drawingml/2006/main">
              <a:ext uri="{FF2B5EF4-FFF2-40B4-BE49-F238E27FC236}">
                <a16:creationId xmlns:a16="http://schemas.microsoft.com/office/drawing/2014/main" id="{61D47F73-C1E3-4B2F-8819-C8968743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Hadi Elham  /  Hussein Moukalled</a:t>
            </a:r>
          </a:p>
        </p:txBody>
      </p:sp>
    </p:spTree>
    <p:extLst>
      <p:ext uri="{BB962C8B-B14F-4D97-AF65-F5344CB8AC3E}">
        <p14:creationId xmlns:p14="http://schemas.microsoft.com/office/powerpoint/2010/main" val="1407776030"/>
      </p:ext>
    </p:extLst>
  </p:cSld>
  <p:transition spd="fast" advClick="1" advTm="9000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f36407c3b4da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orkflow headline">
            <a:extLst xmlns:a="http://schemas.openxmlformats.org/drawingml/2006/main">
              <a:ext uri="{FF2B5EF4-FFF2-40B4-BE49-F238E27FC236}">
                <a16:creationId xmlns:a16="http://schemas.microsoft.com/office/drawing/2014/main" id="{C057DDE8-247F-4726-A5F2-DBA7887B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One request. Across your apps</a:t>
            </a:r>
          </a:p>
        </p:txBody>
      </p:sp>
      <p:sp>
        <p:nvSpPr>
          <p:cNvPr id="3" name="Voice command">
            <a:extLst xmlns:a="http://schemas.openxmlformats.org/drawingml/2006/main">
              <a:ext uri="{FF2B5EF4-FFF2-40B4-BE49-F238E27FC236}">
                <a16:creationId xmlns:a16="http://schemas.microsoft.com/office/drawing/2014/main" id="{2A43694C-CC5F-417E-961B-7F016366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“Chart this table in Excel. Put it in PowerPoint.”</a:t>
            </a:r>
          </a:p>
        </p:txBody>
      </p:sp>
      <p:sp>
        <p:nvSpPr>
          <p:cNvPr id="4" name="Source table label">
            <a:extLst xmlns:a="http://schemas.openxmlformats.org/drawingml/2006/main">
              <a:ext uri="{FF2B5EF4-FFF2-40B4-BE49-F238E27FC236}">
                <a16:creationId xmlns:a16="http://schemas.microsoft.com/office/drawing/2014/main" id="{89B4662C-B009-45B5-A953-7FE070F9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This table</a:t>
            </a:r>
          </a:p>
        </p:txBody>
      </p:sp>
      <p:sp>
        <p:nvSpPr>
          <p:cNvPr id="5" name="Excel label">
            <a:extLst xmlns:a="http://schemas.openxmlformats.org/drawingml/2006/main">
              <a:ext uri="{FF2B5EF4-FFF2-40B4-BE49-F238E27FC236}">
                <a16:creationId xmlns:a16="http://schemas.microsoft.com/office/drawing/2014/main" id="{9D508F35-8B2F-49BB-8BC7-498C0A4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530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Excel chart</a:t>
            </a:r>
          </a:p>
        </p:txBody>
      </p:sp>
      <p:sp>
        <p:nvSpPr>
          <p:cNvPr id="6" name="PowerPoint label">
            <a:extLst xmlns:a="http://schemas.openxmlformats.org/drawingml/2006/main">
              <a:ext uri="{FF2B5EF4-FFF2-40B4-BE49-F238E27FC236}">
                <a16:creationId xmlns:a16="http://schemas.microsoft.com/office/drawing/2014/main" id="{26C7F781-159E-495A-AC8B-DD120D52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530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PowerPoint slide</a:t>
            </a:r>
          </a:p>
        </p:txBody>
      </p:sp>
      <p:sp>
        <p:nvSpPr>
          <p:cNvPr id="7" name="Status">
            <a:extLst xmlns:a="http://schemas.openxmlformats.org/drawingml/2006/main">
              <a:ext uri="{FF2B5EF4-FFF2-40B4-BE49-F238E27FC236}">
                <a16:creationId xmlns:a16="http://schemas.microsoft.com/office/drawing/2014/main" id="{4E8741F8-C8F7-4B6C-9BE0-29D3492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Proposed workflow across supported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74971560"/>
      </p:ext>
    </p:extLst>
  </p:cSld>
  <p:transition spd="fast" advClick="1" advTm="14000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uddy wordmark">
            <a:extLst xmlns:a="http://schemas.openxmlformats.org/drawingml/2006/main">
              <a:ext uri="{FF2B5EF4-FFF2-40B4-BE49-F238E27FC236}">
                <a16:creationId xmlns:a16="http://schemas.microsoft.com/office/drawing/2014/main" id="{8238BFBA-EDAF-49C8-9683-3A10AE7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Buddy</a:t>
            </a:r>
          </a:p>
        </p:txBody>
      </p:sp>
      <p:sp>
        <p:nvSpPr>
          <p:cNvPr id="2" name="Capability headline">
            <a:extLst xmlns:a="http://schemas.openxmlformats.org/drawingml/2006/main">
              <a:ext uri="{FF2B5EF4-FFF2-40B4-BE49-F238E27FC236}">
                <a16:creationId xmlns:a16="http://schemas.microsoft.com/office/drawing/2014/main" id="{674D7325-3B8D-40C0-A0F5-305327BB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Help in the moment</a:t>
            </a:r>
          </a:p>
        </p:txBody>
      </p:sp>
      <p:sp>
        <p:nvSpPr>
          <p:cNvPr id="3" name="Capability intro">
            <a:extLst xmlns:a="http://schemas.openxmlformats.org/drawingml/2006/main">
              <a:ext uri="{FF2B5EF4-FFF2-40B4-BE49-F238E27FC236}">
                <a16:creationId xmlns:a16="http://schemas.microsoft.com/office/drawing/2014/main" id="{7555C3E3-458E-4788-B34B-80E9F2E4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Contextual help inside your current workflow</a:t>
            </a:r>
          </a:p>
        </p:txBody>
      </p:sp>
      <p:sp>
        <p:nvSpPr>
          <p:cNvPr id="4" name="Explain heading">
            <a:extLst xmlns:a="http://schemas.openxmlformats.org/drawingml/2006/main">
              <a:ext uri="{FF2B5EF4-FFF2-40B4-BE49-F238E27FC236}">
                <a16:creationId xmlns:a16="http://schemas.microsoft.com/office/drawing/2014/main" id="{3800CB14-9F51-4998-852A-A1A119CE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“Explain this.”</a:t>
            </a:r>
          </a:p>
        </p:txBody>
      </p:sp>
      <p:sp>
        <p:nvSpPr>
          <p:cNvPr id="5" name="Explain copy">
            <a:extLst xmlns:a="http://schemas.openxmlformats.org/drawingml/2006/main">
              <a:ext uri="{FF2B5EF4-FFF2-40B4-BE49-F238E27FC236}">
                <a16:creationId xmlns:a16="http://schemas.microsoft.com/office/drawing/2014/main" id="{42042245-2FC1-40B5-90BB-AE6C425D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14825"/>
            <a:ext cx="352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Understand selected</a:t>
            </a:r>
          </a:p>
          <a:p xmlns:a="http://schemas.openxmlformats.org/drawingml/2006/main">
            <a:pPr algn="l">
              <a:defRPr sz="202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text, code or equations</a:t>
            </a:r>
          </a:p>
        </p:txBody>
      </p:sp>
      <p:sp>
        <p:nvSpPr>
          <p:cNvPr id="6" name="Guide heading">
            <a:extLst xmlns:a="http://schemas.openxmlformats.org/drawingml/2006/main">
              <a:ext uri="{FF2B5EF4-FFF2-40B4-BE49-F238E27FC236}">
                <a16:creationId xmlns:a16="http://schemas.microsoft.com/office/drawing/2014/main" id="{1BDDA67A-162B-4E95-A96C-1DB2E96F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045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“Show me how.”</a:t>
            </a:r>
          </a:p>
        </p:txBody>
      </p:sp>
      <p:sp>
        <p:nvSpPr>
          <p:cNvPr id="7" name="Guide copy">
            <a:extLst xmlns:a="http://schemas.openxmlformats.org/drawingml/2006/main">
              <a:ext uri="{FF2B5EF4-FFF2-40B4-BE49-F238E27FC236}">
                <a16:creationId xmlns:a16="http://schemas.microsoft.com/office/drawing/2014/main" id="{D341A8B8-1D43-45A1-B3EC-1245A80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14825"/>
            <a:ext cx="3619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Step-by-step guidance</a:t>
            </a:r>
          </a:p>
          <a:p xmlns:a="http://schemas.openxmlformats.org/drawingml/2006/main">
            <a:pPr algn="l">
              <a:defRPr sz="202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in unfamiliar software</a:t>
            </a:r>
          </a:p>
        </p:txBody>
      </p:sp>
      <p:sp>
        <p:nvSpPr>
          <p:cNvPr id="8" name="Troubleshoot heading">
            <a:extLst xmlns:a="http://schemas.openxmlformats.org/drawingml/2006/main">
              <a:ext uri="{FF2B5EF4-FFF2-40B4-BE49-F238E27FC236}">
                <a16:creationId xmlns:a16="http://schemas.microsoft.com/office/drawing/2014/main" id="{243C1745-48A3-4A02-A2D1-80C55140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004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“Why so slow?”</a:t>
            </a:r>
          </a:p>
        </p:txBody>
      </p:sp>
      <p:sp>
        <p:nvSpPr>
          <p:cNvPr id="9" name="Troubleshoot copy">
            <a:extLst xmlns:a="http://schemas.openxmlformats.org/drawingml/2006/main">
              <a:ext uri="{FF2B5EF4-FFF2-40B4-BE49-F238E27FC236}">
                <a16:creationId xmlns:a16="http://schemas.microsoft.com/office/drawing/2014/main" id="{DBB4DFEB-B21A-4A6E-9D14-3E031F87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314825"/>
            <a:ext cx="3181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Investigate resource</a:t>
            </a:r>
          </a:p>
          <a:p xmlns:a="http://schemas.openxmlformats.org/drawingml/2006/main">
            <a:pPr algn="l">
              <a:defRPr sz="202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use and processes</a:t>
            </a:r>
          </a:p>
        </p:txBody>
      </p:sp>
      <p:sp>
        <p:nvSpPr>
          <p:cNvPr id="10" name="Further scope">
            <a:extLst xmlns:a="http://schemas.openxmlformats.org/drawingml/2006/main">
              <a:ext uri="{FF2B5EF4-FFF2-40B4-BE49-F238E27FC236}">
                <a16:creationId xmlns:a16="http://schemas.microsoft.com/office/drawing/2014/main" id="{630AF607-E545-4C7C-ACC4-50286A88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88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Also planned: file search, writing assistance, voice and remote access</a:t>
            </a:r>
          </a:p>
        </p:txBody>
      </p:sp>
    </p:spTree>
    <p:extLst>
      <p:ext uri="{BB962C8B-B14F-4D97-AF65-F5344CB8AC3E}">
        <p14:creationId xmlns:p14="http://schemas.microsoft.com/office/powerpoint/2010/main" val="183690349"/>
      </p:ext>
    </p:extLst>
  </p:cSld>
  <p:transition spd="fast" advClick="1" advTm="11000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uddy wordmark">
            <a:extLst xmlns:a="http://schemas.openxmlformats.org/drawingml/2006/main">
              <a:ext uri="{FF2B5EF4-FFF2-40B4-BE49-F238E27FC236}">
                <a16:creationId xmlns:a16="http://schemas.microsoft.com/office/drawing/2014/main" id="{B09A2173-E870-46E6-A6D5-33F41407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02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B202A"/>
                </a:solidFill>
                <a:latin typeface="Segoe UI"/>
                <a:ea typeface="Segoe UI"/>
                <a:cs typeface="Segoe UI"/>
              </a:rPr>
              <a:t>Buddy</a:t>
            </a:r>
          </a:p>
        </p:txBody>
      </p:sp>
      <p:sp>
        <p:nvSpPr>
          <p:cNvPr id="2" name="Control headline 1">
            <a:extLst xmlns:a="http://schemas.openxmlformats.org/drawingml/2006/main">
              <a:ext uri="{FF2B5EF4-FFF2-40B4-BE49-F238E27FC236}">
                <a16:creationId xmlns:a16="http://schemas.microsoft.com/office/drawing/2014/main" id="{CB2485FA-0881-479A-9ECF-0B3B035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B202A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0B202A"/>
                </a:solidFill>
                <a:latin typeface="Segoe UI"/>
                <a:ea typeface="Segoe UI"/>
                <a:cs typeface="Segoe UI"/>
              </a:rPr>
              <a:t>You stay</a:t>
            </a:r>
          </a:p>
        </p:txBody>
      </p:sp>
      <p:sp>
        <p:nvSpPr>
          <p:cNvPr id="3" name="Control headline 2">
            <a:extLst xmlns:a="http://schemas.openxmlformats.org/drawingml/2006/main">
              <a:ext uri="{FF2B5EF4-FFF2-40B4-BE49-F238E27FC236}">
                <a16:creationId xmlns:a16="http://schemas.microsoft.com/office/drawing/2014/main" id="{EFCDAE5D-3D3A-4199-8402-56E5B59A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B202A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0B202A"/>
                </a:solidFill>
                <a:latin typeface="Segoe UI"/>
                <a:ea typeface="Segoe UI"/>
                <a:cs typeface="Segoe UI"/>
              </a:rPr>
              <a:t>in control</a:t>
            </a:r>
          </a:p>
        </p:txBody>
      </p:sp>
      <p:sp>
        <p:nvSpPr>
          <p:cNvPr id="4" name="Principle 1">
            <a:extLst xmlns:a="http://schemas.openxmlformats.org/drawingml/2006/main">
              <a:ext uri="{FF2B5EF4-FFF2-40B4-BE49-F238E27FC236}">
                <a16:creationId xmlns:a16="http://schemas.microsoft.com/office/drawing/2014/main" id="{598F54B5-44D6-4FBD-B789-E186FE07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57350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02A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0B202A"/>
                </a:solidFill>
                <a:latin typeface="Segoe UI"/>
                <a:ea typeface="Segoe UI"/>
                <a:cs typeface="Segoe UI"/>
              </a:rPr>
              <a:t>Local-first by design</a:t>
            </a:r>
          </a:p>
        </p:txBody>
      </p:sp>
      <p:sp>
        <p:nvSpPr>
          <p:cNvPr id="5" name="Principle 2">
            <a:extLst xmlns:a="http://schemas.openxmlformats.org/drawingml/2006/main">
              <a:ext uri="{FF2B5EF4-FFF2-40B4-BE49-F238E27FC236}">
                <a16:creationId xmlns:a16="http://schemas.microsoft.com/office/drawing/2014/main" id="{A13EEC2E-C8E0-4D45-995F-A6A5A6B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38425"/>
            <a:ext cx="4438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02A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0B202A"/>
                </a:solidFill>
                <a:latin typeface="Segoe UI"/>
                <a:ea typeface="Segoe UI"/>
                <a:cs typeface="Segoe UI"/>
              </a:rPr>
              <a:t>Windows permissions</a:t>
            </a:r>
          </a:p>
          <a:p xmlns:a="http://schemas.openxmlformats.org/drawingml/2006/main">
            <a:pPr algn="l">
              <a:defRPr sz="2475" b="1">
                <a:solidFill>
                  <a:srgbClr val="0B202A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0B202A"/>
                </a:solidFill>
                <a:latin typeface="Segoe UI"/>
                <a:ea typeface="Segoe UI"/>
                <a:cs typeface="Segoe UI"/>
              </a:rPr>
              <a:t>define access</a:t>
            </a:r>
          </a:p>
        </p:txBody>
      </p:sp>
      <p:sp>
        <p:nvSpPr>
          <p:cNvPr id="6" name="Principle 3">
            <a:extLst xmlns:a="http://schemas.openxmlformats.org/drawingml/2006/main">
              <a:ext uri="{FF2B5EF4-FFF2-40B4-BE49-F238E27FC236}">
                <a16:creationId xmlns:a16="http://schemas.microsoft.com/office/drawing/2014/main" id="{2F6BF2E9-AB22-4477-87CC-D590B32E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86225"/>
            <a:ext cx="4438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202A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0B202A"/>
                </a:solidFill>
                <a:latin typeface="Segoe UI"/>
                <a:ea typeface="Segoe UI"/>
                <a:cs typeface="Segoe UI"/>
              </a:rPr>
              <a:t>Your approval before</a:t>
            </a:r>
          </a:p>
          <a:p xmlns:a="http://schemas.openxmlformats.org/drawingml/2006/main">
            <a:pPr algn="l">
              <a:defRPr sz="2475" b="1">
                <a:solidFill>
                  <a:srgbClr val="0B202A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0B202A"/>
                </a:solidFill>
                <a:latin typeface="Segoe UI"/>
                <a:ea typeface="Segoe UI"/>
                <a:cs typeface="Segoe UI"/>
              </a:rPr>
              <a:t>sensitive actions</a:t>
            </a:r>
          </a:p>
        </p:txBody>
      </p:sp>
      <p:sp>
        <p:nvSpPr>
          <p:cNvPr id="7" name="Remote scope">
            <a:extLst xmlns:a="http://schemas.openxmlformats.org/drawingml/2006/main">
              <a:ext uri="{FF2B5EF4-FFF2-40B4-BE49-F238E27FC236}">
                <a16:creationId xmlns:a16="http://schemas.microsoft.com/office/drawing/2014/main" id="{4CDBFE56-27E4-4426-9F19-BA6C5F25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28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E596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3E5964"/>
                </a:solidFill>
                <a:latin typeface="Segoe UI"/>
                <a:ea typeface="Segoe UI"/>
                <a:cs typeface="Segoe UI"/>
              </a:rPr>
              <a:t>Remote access planned with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717164190"/>
      </p:ext>
    </p:extLst>
  </p:cSld>
  <p:transition spd="fast" advClick="1" advTm="9000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uddy wordmark">
            <a:extLst xmlns:a="http://schemas.openxmlformats.org/drawingml/2006/main">
              <a:ext uri="{FF2B5EF4-FFF2-40B4-BE49-F238E27FC236}">
                <a16:creationId xmlns:a16="http://schemas.microsoft.com/office/drawing/2014/main" id="{6027583B-EAB9-42CA-B387-6C85A6B3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Buddy</a:t>
            </a:r>
          </a:p>
        </p:txBody>
      </p:sp>
      <p:sp>
        <p:nvSpPr>
          <p:cNvPr id="2" name="Validation headline 1">
            <a:extLst xmlns:a="http://schemas.openxmlformats.org/drawingml/2006/main">
              <a:ext uri="{FF2B5EF4-FFF2-40B4-BE49-F238E27FC236}">
                <a16:creationId xmlns:a16="http://schemas.microsoft.com/office/drawing/2014/main" id="{8FB9D74E-4D5B-458E-869E-8DB6DE31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762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Build it</a:t>
            </a:r>
          </a:p>
        </p:txBody>
      </p:sp>
      <p:sp>
        <p:nvSpPr>
          <p:cNvPr id="3" name="Validation headline 2">
            <a:extLst xmlns:a="http://schemas.openxmlformats.org/drawingml/2006/main">
              <a:ext uri="{FF2B5EF4-FFF2-40B4-BE49-F238E27FC236}">
                <a16:creationId xmlns:a16="http://schemas.microsoft.com/office/drawing/2014/main" id="{79D4AF9C-DD4B-4577-B74F-4EEEB3BE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7048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Then prove it</a:t>
            </a:r>
          </a:p>
        </p:txBody>
      </p:sp>
      <p:sp>
        <p:nvSpPr>
          <p:cNvPr id="4" name="Build direction">
            <a:extLst xmlns:a="http://schemas.openxmlformats.org/drawingml/2006/main">
              <a:ext uri="{FF2B5EF4-FFF2-40B4-BE49-F238E27FC236}">
                <a16:creationId xmlns:a16="http://schemas.microsoft.com/office/drawing/2014/main" id="{F58D552C-631A-4F40-88CE-278DA387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196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An LLM agent + Windows automation</a:t>
            </a:r>
          </a:p>
        </p:txBody>
      </p:sp>
      <p:sp>
        <p:nvSpPr>
          <p:cNvPr id="5" name="Validation setup">
            <a:extLst xmlns:a="http://schemas.openxmlformats.org/drawingml/2006/main">
              <a:ext uri="{FF2B5EF4-FFF2-40B4-BE49-F238E27FC236}">
                <a16:creationId xmlns:a16="http://schemas.microsoft.com/office/drawing/2014/main" id="{3585D434-4C4C-49F6-AE73-E76DC415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530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Planned: repeated tasks vs. manual completion</a:t>
            </a:r>
          </a:p>
        </p:txBody>
      </p:sp>
      <p:sp>
        <p:nvSpPr>
          <p:cNvPr id="6" name="Metric 1">
            <a:extLst xmlns:a="http://schemas.openxmlformats.org/drawingml/2006/main">
              <a:ext uri="{FF2B5EF4-FFF2-40B4-BE49-F238E27FC236}">
                <a16:creationId xmlns:a16="http://schemas.microsoft.com/office/drawing/2014/main" id="{331BB616-D750-413C-8453-A71598E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43075"/>
            <a:ext cx="377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Task success</a:t>
            </a:r>
          </a:p>
        </p:txBody>
      </p:sp>
      <p:sp>
        <p:nvSpPr>
          <p:cNvPr id="7" name="Metric 1 explanation">
            <a:extLst xmlns:a="http://schemas.openxmlformats.org/drawingml/2006/main">
              <a:ext uri="{FF2B5EF4-FFF2-40B4-BE49-F238E27FC236}">
                <a16:creationId xmlns:a16="http://schemas.microsoft.com/office/drawing/2014/main" id="{2FE7ACBA-E260-4FFD-B1E3-FA8FD94E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24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Did it complete the task?</a:t>
            </a:r>
          </a:p>
        </p:txBody>
      </p:sp>
      <p:sp>
        <p:nvSpPr>
          <p:cNvPr id="8" name="Metric 2">
            <a:extLst xmlns:a="http://schemas.openxmlformats.org/drawingml/2006/main">
              <a:ext uri="{FF2B5EF4-FFF2-40B4-BE49-F238E27FC236}">
                <a16:creationId xmlns:a16="http://schemas.microsoft.com/office/drawing/2014/main" id="{0BDC7EEF-0AEA-4963-BB16-51708C60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09925"/>
            <a:ext cx="377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Response time</a:t>
            </a:r>
          </a:p>
        </p:txBody>
      </p:sp>
      <p:sp>
        <p:nvSpPr>
          <p:cNvPr id="9" name="Metric 2 explanation">
            <a:extLst xmlns:a="http://schemas.openxmlformats.org/drawingml/2006/main">
              <a:ext uri="{FF2B5EF4-FFF2-40B4-BE49-F238E27FC236}">
                <a16:creationId xmlns:a16="http://schemas.microsoft.com/office/drawing/2014/main" id="{2883DE9B-6390-445C-81B1-B7D8923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90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How long did it take?</a:t>
            </a:r>
          </a:p>
        </p:txBody>
      </p:sp>
      <p:sp>
        <p:nvSpPr>
          <p:cNvPr id="10" name="Metric 3">
            <a:extLst xmlns:a="http://schemas.openxmlformats.org/drawingml/2006/main">
              <a:ext uri="{FF2B5EF4-FFF2-40B4-BE49-F238E27FC236}">
                <a16:creationId xmlns:a16="http://schemas.microsoft.com/office/drawing/2014/main" id="{678AD9AB-43D2-4446-A958-793193FD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76775"/>
            <a:ext cx="377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Error recovery</a:t>
            </a:r>
          </a:p>
        </p:txBody>
      </p:sp>
      <p:sp>
        <p:nvSpPr>
          <p:cNvPr id="11" name="Metric 3 explanation">
            <a:extLst xmlns:a="http://schemas.openxmlformats.org/drawingml/2006/main">
              <a:ext uri="{FF2B5EF4-FFF2-40B4-BE49-F238E27FC236}">
                <a16:creationId xmlns:a16="http://schemas.microsoft.com/office/drawing/2014/main" id="{59532354-139A-4889-BB37-F6472F01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2578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Can it recover when stuck?</a:t>
            </a:r>
          </a:p>
        </p:txBody>
      </p:sp>
    </p:spTree>
    <p:extLst>
      <p:ext uri="{BB962C8B-B14F-4D97-AF65-F5344CB8AC3E}">
        <p14:creationId xmlns:p14="http://schemas.microsoft.com/office/powerpoint/2010/main" val="1930861477"/>
      </p:ext>
    </p:extLst>
  </p:cSld>
  <p:transition spd="fast" advClick="1" advTm="11000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f521927a544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uddy wordmark">
            <a:extLst xmlns:a="http://schemas.openxmlformats.org/drawingml/2006/main">
              <a:ext uri="{FF2B5EF4-FFF2-40B4-BE49-F238E27FC236}">
                <a16:creationId xmlns:a16="http://schemas.microsoft.com/office/drawing/2014/main" id="{EE75BE14-D55D-44B7-B24C-7260896D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Buddy</a:t>
            </a:r>
          </a:p>
        </p:txBody>
      </p:sp>
      <p:sp>
        <p:nvSpPr>
          <p:cNvPr id="3" name="Closing headline 1">
            <a:extLst xmlns:a="http://schemas.openxmlformats.org/drawingml/2006/main">
              <a:ext uri="{FF2B5EF4-FFF2-40B4-BE49-F238E27FC236}">
                <a16:creationId xmlns:a16="http://schemas.microsoft.com/office/drawing/2014/main" id="{20B06D78-FDC0-42E5-A7BE-BAB8354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6150" b="1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Less clicking</a:t>
            </a:r>
          </a:p>
        </p:txBody>
      </p:sp>
      <p:sp>
        <p:nvSpPr>
          <p:cNvPr id="4" name="Closing headline 2">
            <a:extLst xmlns:a="http://schemas.openxmlformats.org/drawingml/2006/main">
              <a:ext uri="{FF2B5EF4-FFF2-40B4-BE49-F238E27FC236}">
                <a16:creationId xmlns:a16="http://schemas.microsoft.com/office/drawing/2014/main" id="{97BB7B44-487B-483B-B01A-4476ED1A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67E8F9"/>
                </a:solidFill>
                <a:latin typeface="Segoe UI"/>
                <a:ea typeface="Segoe UI"/>
                <a:cs typeface="Segoe UI"/>
              </a:defRPr>
            </a:pPr>
            <a:r>
              <a:rPr sz="6150" b="1">
                <a:solidFill>
                  <a:srgbClr val="67E8F9"/>
                </a:solidFill>
                <a:latin typeface="Segoe UI"/>
                <a:ea typeface="Segoe UI"/>
                <a:cs typeface="Segoe UI"/>
              </a:rPr>
              <a:t>More doing</a:t>
            </a:r>
          </a:p>
        </p:txBody>
      </p:sp>
      <p:sp>
        <p:nvSpPr>
          <p:cNvPr id="5" name="Team closing">
            <a:extLst xmlns:a="http://schemas.openxmlformats.org/drawingml/2006/main">
              <a:ext uri="{FF2B5EF4-FFF2-40B4-BE49-F238E27FC236}">
                <a16:creationId xmlns:a16="http://schemas.microsoft.com/office/drawing/2014/main" id="{391EEA9E-51AD-4F23-B892-591C4CF8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72050"/>
            <a:ext cx="728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4F8FA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4F8FA"/>
                </a:solidFill>
                <a:latin typeface="Segoe UI"/>
                <a:ea typeface="Segoe UI"/>
                <a:cs typeface="Segoe UI"/>
              </a:rPr>
              <a:t>Hadi Elham  /  Hussein Moukalled</a:t>
            </a:r>
          </a:p>
        </p:txBody>
      </p:sp>
      <p:sp>
        <p:nvSpPr>
          <p:cNvPr id="6" name="Affiliation">
            <a:extLst xmlns:a="http://schemas.openxmlformats.org/drawingml/2006/main">
              <a:ext uri="{FF2B5EF4-FFF2-40B4-BE49-F238E27FC236}">
                <a16:creationId xmlns:a16="http://schemas.microsoft.com/office/drawing/2014/main" id="{3191D2CC-12AD-44F0-8CAD-B4638E3D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530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American University of Beirut</a:t>
            </a:r>
          </a:p>
        </p:txBody>
      </p:sp>
      <p:sp>
        <p:nvSpPr>
          <p:cNvPr id="7" name="Course">
            <a:extLst xmlns:a="http://schemas.openxmlformats.org/drawingml/2006/main">
              <a:ext uri="{FF2B5EF4-FFF2-40B4-BE49-F238E27FC236}">
                <a16:creationId xmlns:a16="http://schemas.microsoft.com/office/drawing/2014/main" id="{53F02A92-C206-487E-B398-4D21315F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340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CBBC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CBBC5"/>
                </a:solidFill>
                <a:latin typeface="Segoe UI"/>
                <a:ea typeface="Segoe UI"/>
                <a:cs typeface="Segoe UI"/>
              </a:rPr>
              <a:t>EECE 503P · Agentic Systems</a:t>
            </a:r>
          </a:p>
        </p:txBody>
      </p:sp>
    </p:spTree>
    <p:extLst>
      <p:ext uri="{BB962C8B-B14F-4D97-AF65-F5344CB8AC3E}">
        <p14:creationId xmlns:p14="http://schemas.microsoft.com/office/powerpoint/2010/main" val="1904993359"/>
      </p:ext>
    </p:extLst>
  </p:cSld>
  <p:transition spd="fast" advClick="1" advTm="6000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2026-10-04T18:43:40.0960000Z</dcterms:created>
  <dcterms:modified xsi:type="dcterms:W3CDTF">2026-10-04T18:43:40.0960000Z</dcterms:modified>
</coreProperties>
</file>